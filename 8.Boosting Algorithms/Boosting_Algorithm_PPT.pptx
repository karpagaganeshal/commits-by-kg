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6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Boosting </a:t>
            </a:r>
            <a:r>
              <a:rPr lang="en-IN" dirty="0"/>
              <a:t>Algorithm </a:t>
            </a:r>
            <a:r>
              <a:rPr dirty="0"/>
              <a:t>in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Simple Guide: AdaBoost, XGBoost, LightGBM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Boosting?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Boosting = Combining many weak models into one strong model.</a:t>
            </a:r>
          </a:p>
          <a:p>
            <a:r>
              <a:t>Trains models step by step (sequentially).</a:t>
            </a:r>
          </a:p>
          <a:p>
            <a:r>
              <a:t>Each new model fixes mistakes of the previous one.</a:t>
            </a:r>
          </a:p>
          <a:p>
            <a:r>
              <a:t>Bagging trains in parallel, Boosting trains in sequence.</a:t>
            </a:r>
          </a:p>
          <a:p>
            <a:r>
              <a:t>Good: reduces bias, strong predictions.</a:t>
            </a:r>
          </a:p>
          <a:p>
            <a:r>
              <a:t>Caution: can overfit, sensitive to noisy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AdaBoost (Adaptive Boosting)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Idea: Misclassified points get more focus in the next round.</a:t>
            </a:r>
          </a:p>
          <a:p>
            <a:r>
              <a:t>Start: equal weight for all samples.</a:t>
            </a:r>
          </a:p>
          <a:p>
            <a:r>
              <a:t>Misclassified points → weight increases.</a:t>
            </a:r>
          </a:p>
          <a:p>
            <a:r>
              <a:t>Next model learns from these difficult points.</a:t>
            </a:r>
          </a:p>
          <a:p>
            <a:r>
              <a:t>Final result = weighted vote of all models.</a:t>
            </a:r>
          </a:p>
          <a:p>
            <a:r>
              <a:t>Good for simple problems, but sensitive to noise.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adaboost algorithm in machine learning">
            <a:extLst>
              <a:ext uri="{FF2B5EF4-FFF2-40B4-BE49-F238E27FC236}">
                <a16:creationId xmlns:a16="http://schemas.microsoft.com/office/drawing/2014/main" id="{A8CC517A-99B3-066D-D2DA-325D36543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84" y="556181"/>
            <a:ext cx="8290200" cy="3617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6019100-CD88-E238-7AA3-BB9B1A334480}"/>
              </a:ext>
            </a:extLst>
          </p:cNvPr>
          <p:cNvSpPr/>
          <p:nvPr/>
        </p:nvSpPr>
        <p:spPr>
          <a:xfrm>
            <a:off x="2517491" y="4173966"/>
            <a:ext cx="39581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Pictorial view of Ada Boosting </a:t>
            </a:r>
          </a:p>
        </p:txBody>
      </p:sp>
    </p:spTree>
    <p:extLst>
      <p:ext uri="{BB962C8B-B14F-4D97-AF65-F5344CB8AC3E}">
        <p14:creationId xmlns:p14="http://schemas.microsoft.com/office/powerpoint/2010/main" val="3136572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XGBoost (Extreme Gradient Boosting)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form of Gradient Boosting.</a:t>
            </a:r>
          </a:p>
          <a:p>
            <a:r>
              <a:t>Adds regularization (reduces overfitting).</a:t>
            </a:r>
          </a:p>
          <a:p>
            <a:r>
              <a:t>Faster with parallel computing.</a:t>
            </a:r>
          </a:p>
          <a:p>
            <a:r>
              <a:t>Handles missing values well.</a:t>
            </a:r>
          </a:p>
          <a:p>
            <a:r>
              <a:t>Very popular for big data tasks.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D286D-66E3-BA88-42D6-A6776E5A3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19" y="252405"/>
            <a:ext cx="6873836" cy="317659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B35C55-5EE1-E700-BD67-A7B7501D3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760556"/>
              </p:ext>
            </p:extLst>
          </p:nvPr>
        </p:nvGraphicFramePr>
        <p:xfrm>
          <a:off x="1054231" y="3602872"/>
          <a:ext cx="7035538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5538">
                  <a:extLst>
                    <a:ext uri="{9D8B030D-6E8A-4147-A177-3AD203B41FA5}">
                      <a16:colId xmlns:a16="http://schemas.microsoft.com/office/drawing/2014/main" val="1140438662"/>
                    </a:ext>
                  </a:extLst>
                </a:gridCol>
              </a:tblGrid>
              <a:tr h="2533977">
                <a:tc>
                  <a:txBody>
                    <a:bodyPr/>
                    <a:lstStyle/>
                    <a:p>
                      <a:pPr fontAlgn="base"/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How </a:t>
                      </a:r>
                      <a:r>
                        <a:rPr kumimoji="0" lang="en-US" sz="1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Works?</a:t>
                      </a:r>
                      <a:b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fontAlgn="base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It builds decision trees sequentially with each tree attempting to correct the mistakes made by the previous one. The process can be broken down as follows:</a:t>
                      </a:r>
                    </a:p>
                    <a:p>
                      <a:pPr fontAlgn="base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Start with a base learner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The first model decision tree is trained on the data. In regression tasks this base model simply predicts the average of the target variable.</a:t>
                      </a:r>
                    </a:p>
                    <a:p>
                      <a:pPr fontAlgn="base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Calculate the errors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After training the first tree the errors between the predicted and actual values are calculated.</a:t>
                      </a:r>
                    </a:p>
                    <a:p>
                      <a:pPr fontAlgn="base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Train the next tree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The next tree is trained on the errors of the previous tree. This step attempts to correct the errors made by the first tree.</a:t>
                      </a:r>
                    </a:p>
                    <a:p>
                      <a:pPr fontAlgn="base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Repeat the process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This process continues with each new tree trying to correct the errors of the previous trees until a stopping criterion is met.</a:t>
                      </a:r>
                    </a:p>
                    <a:p>
                      <a:pPr fontAlgn="base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Combine the predictions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The final prediction is the sum of the predictions from all the trees.</a:t>
                      </a:r>
                    </a:p>
                    <a:p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312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64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LightGBM (Light Gradient Boosting Machine)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for speed and efficiency.</a:t>
            </a:r>
          </a:p>
          <a:p>
            <a:r>
              <a:t>Leaf-wise tree growth (more accurate but may overfit).</a:t>
            </a:r>
          </a:p>
          <a:p>
            <a:r>
              <a:t>GOSS: ignores small gradient data to speed up.</a:t>
            </a:r>
          </a:p>
          <a:p>
            <a:r>
              <a:t>EFB: reduces data size by bundling features.</a:t>
            </a:r>
          </a:p>
          <a:p>
            <a:r>
              <a:t>Best for very large datasets, faster than XGBoost.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55F14C-367D-8556-7905-F92C9A5E2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167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Boosting = small models combined into strong one.</a:t>
            </a:r>
          </a:p>
          <a:p>
            <a:r>
              <a:t>AdaBoost → Simple, good for small tasks.</a:t>
            </a:r>
          </a:p>
          <a:p>
            <a:r>
              <a:t>XGBoost → Accurate, scalable, widely used.</a:t>
            </a:r>
          </a:p>
          <a:p>
            <a:r>
              <a:t>LightGBM → Very fast, great for big data.</a:t>
            </a:r>
          </a:p>
          <a:p>
            <a:r>
              <a:t>Choose based on data size &amp; speed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432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Boosting Algorithm in Machine Learning</vt:lpstr>
      <vt:lpstr>What is Boosting?</vt:lpstr>
      <vt:lpstr>AdaBoost (Adaptive Boosting)</vt:lpstr>
      <vt:lpstr>PowerPoint Presentation</vt:lpstr>
      <vt:lpstr>XGBoost (Extreme Gradient Boosting)</vt:lpstr>
      <vt:lpstr>PowerPoint Presentation</vt:lpstr>
      <vt:lpstr>LightGBM (Light Gradient Boosting Machine)</vt:lpstr>
      <vt:lpstr>PowerPoint Presentation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Karpahaganesh AL</cp:lastModifiedBy>
  <cp:revision>6</cp:revision>
  <dcterms:created xsi:type="dcterms:W3CDTF">2013-01-27T09:14:16Z</dcterms:created>
  <dcterms:modified xsi:type="dcterms:W3CDTF">2025-12-02T14:49:59Z</dcterms:modified>
  <cp:category/>
</cp:coreProperties>
</file>