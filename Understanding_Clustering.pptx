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25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" y="128930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620317" y="183794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890626" y="218084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1985162" y="115214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506120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4174236" y="458114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322930" y="416966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4539082" y="540410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10254996" y="142646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10863072" y="197510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9646920" y="183794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19842" y="94640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9038844" y="5404104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6920" y="5815584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30768" y="5952744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Understanding</a:t>
            </a:r>
            <a:endParaRPr lang="en-US" sz="5400" dirty="0"/>
          </a:p>
          <a:p>
            <a:pPr marL="0" indent="0" algn="ctr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By, Karpaha Ganesh 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Ganeesh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2.3.1 — 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Clustering?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means putting similar things into the same group — without anyone telling you the groups in advance.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looks at data points and finds ones that are alike.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puts alike points into the same group, called a "cluster."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labels the groups first — the computer discovers them on its own.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sorting a mixed bag of candy into piles by color, without instructions.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  <a:effectLst>
            <a:outerShdw blurRad="76200" dist="38100" dir="5400000" algn="bl" rotWithShape="0">
              <a:srgbClr val="9AAFAF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07070" y="24688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281269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7931506" y="298460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8370418" y="238292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77656" y="255483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13848" y="268376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64978" y="298460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9994392" y="311353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33304" y="2382926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4703674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Shape 16"/>
          <p:cNvSpPr/>
          <p:nvPr/>
        </p:nvSpPr>
        <p:spPr>
          <a:xfrm>
            <a:off x="8809330" y="5047488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9" name="Shape 17"/>
          <p:cNvSpPr/>
          <p:nvPr/>
        </p:nvSpPr>
        <p:spPr>
          <a:xfrm>
            <a:off x="8238744" y="5133442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8677656" y="4531766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Shape 19"/>
          <p:cNvSpPr/>
          <p:nvPr/>
        </p:nvSpPr>
        <p:spPr>
          <a:xfrm>
            <a:off x="8984894" y="4832604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colors = things the computer decided belong together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2.3.2 — A POPULAR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few "group leaders." Everyone joins the leader closest to them. The leaders keep adjusting until the groups feel right.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it how many groups you want (say, 3).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places 3 "leaders" and everyone joins their nearest leader.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 move to the middle of their group, and people re-join.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repeats until the groups stop changing.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  <a:effectLst>
            <a:outerShdw blurRad="76200" dist="38100" dir="5400000" algn="bl" rotWithShape="0">
              <a:srgbClr val="9AAFAF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31506" y="238292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545982" y="255483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8019288" y="298460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298460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0456" y="2665476"/>
            <a:ext cx="201168" cy="201168"/>
          </a:xfrm>
          <a:prstGeom prst="ellipse">
            <a:avLst/>
          </a:prstGeom>
          <a:solidFill>
            <a:srgbClr val="1B2B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26066" y="246888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40542" y="255483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01630" y="3070555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72216" y="298460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15016" y="2665476"/>
            <a:ext cx="201168" cy="201168"/>
          </a:xfrm>
          <a:prstGeom prst="ellipse">
            <a:avLst/>
          </a:prstGeom>
          <a:solidFill>
            <a:srgbClr val="1B2B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84894" y="4402836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9" name="Shape 17"/>
          <p:cNvSpPr/>
          <p:nvPr/>
        </p:nvSpPr>
        <p:spPr>
          <a:xfrm>
            <a:off x="9687154" y="4531766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16568" y="5047488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Shape 19"/>
          <p:cNvSpPr/>
          <p:nvPr/>
        </p:nvSpPr>
        <p:spPr>
          <a:xfrm>
            <a:off x="9555480" y="5047488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Shape 20"/>
          <p:cNvSpPr/>
          <p:nvPr/>
        </p:nvSpPr>
        <p:spPr>
          <a:xfrm>
            <a:off x="9317736" y="4685386"/>
            <a:ext cx="201168" cy="201168"/>
          </a:xfrm>
          <a:prstGeom prst="ellipse">
            <a:avLst/>
          </a:prstGeom>
          <a:solidFill>
            <a:srgbClr val="1B2B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dot = the group leader (center)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2.3.3 — LETTING THE DATA VOTE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Affinity Propagation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you picking leaders, everyone "votes" for who they think represents them best. The most popular members become the leaders.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sends messages to every other point.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say "I think you'd make a good leader for me."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with the most votes naturally become group leaders.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decide the number of groups beforehand.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  <a:effectLst>
            <a:outerShdw blurRad="76200" dist="38100" dir="5400000" algn="bl" rotWithShape="0">
              <a:srgbClr val="9AAFAF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31506" y="255483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8984894" y="246888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8019288" y="341437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8897112" y="3328416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8439912" y="2880360"/>
            <a:ext cx="201168" cy="201168"/>
          </a:xfrm>
          <a:prstGeom prst="ellipse">
            <a:avLst/>
          </a:prstGeom>
          <a:solidFill>
            <a:srgbClr val="1B2B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74936" y="4187952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40542" y="4101998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9862718" y="496153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28325" y="48326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3342" y="4384548"/>
            <a:ext cx="201168" cy="201168"/>
          </a:xfrm>
          <a:prstGeom prst="ellipse">
            <a:avLst/>
          </a:prstGeom>
          <a:solidFill>
            <a:srgbClr val="1B2B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dot = the member everyone else voted for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2.3.4 — FOLLOWING THE CROWD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Mean Shift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standing in a crowd and slowly walking toward wherever it feels most crowded. Everyone drifts toward the busiest spots — and those spots become the groups.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looks around and moves toward the busiest nearby area.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shifting, step by step, toward the crowd.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everyone settles near a "hot spot."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hot spot becomes its own group — no need to pick the number first.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  <a:effectLst>
            <a:outerShdw blurRad="76200" dist="38100" dir="5400000" algn="bl" rotWithShape="0">
              <a:srgbClr val="9AAFAF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9288" y="397306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8370418" y="289864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8238744" y="341437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24688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77656" y="311353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9912" y="2966314"/>
            <a:ext cx="201168" cy="201168"/>
          </a:xfrm>
          <a:prstGeom prst="ellipse">
            <a:avLst/>
          </a:prstGeom>
          <a:solidFill>
            <a:srgbClr val="1B2B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72216" y="483260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01630" y="418795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64978" y="4531766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26066" y="496153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15016" y="4513478"/>
            <a:ext cx="201168" cy="201168"/>
          </a:xfrm>
          <a:prstGeom prst="ellipse">
            <a:avLst/>
          </a:prstGeom>
          <a:solidFill>
            <a:srgbClr val="1B2B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drift inward toward the crowded center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2.3.5 — GROUPING BY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Spectral Clustering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just looking at distance, this method looks at how things are connected — like grouping people by their friendships, not just where they live.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a web of connections between points.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that are strongly connected end up in the same group.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well for shapes that aren't simple round blobs (like spirals or rings).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tricky, twisted, or curved patterns.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  <a:effectLst>
            <a:outerShdw blurRad="76200" dist="38100" dir="5400000" algn="bl" rotWithShape="0">
              <a:srgbClr val="9AAFAF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9288" y="289864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255483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8897112" y="281269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9336024" y="332841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77656" y="354330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94392" y="4187952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33304" y="4531766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72216" y="4273906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13848" y="5047488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9774936" y="4703674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1584" y="2980944"/>
            <a:ext cx="438912" cy="0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2980944"/>
            <a:ext cx="877824" cy="0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1584" y="2980944"/>
            <a:ext cx="1316736" cy="429768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2980944"/>
            <a:ext cx="658368" cy="644652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0496" y="2637130"/>
            <a:ext cx="438912" cy="257861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0496" y="2637130"/>
            <a:ext cx="877824" cy="773582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0496" y="2637130"/>
            <a:ext cx="219456" cy="988466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79408" y="2894990"/>
            <a:ext cx="438912" cy="515722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79408" y="2894990"/>
            <a:ext cx="0" cy="730606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8320" y="3410712"/>
            <a:ext cx="0" cy="214884"/>
          </a:xfrm>
          <a:prstGeom prst="line">
            <a:avLst/>
          </a:prstGeom>
          <a:noFill/>
          <a:ln w="9525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show connections — connected dots join the same group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2.3.6 — BUILDING A FAMILY TREE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Hierarchical Clustering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drawing a family tree. Start by pairing up the two most similar things, then keep merging pairs into bigger and bigger groups.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every point as its own tiny group.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two most similar groups together, again and again.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builds a tree, from small pairs up to one big group.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"cut" the tree at any point to decide how many groups you want.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9832" y="496153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677656" y="496153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9555480" y="496153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33304" y="496153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4055364"/>
            <a:ext cx="0" cy="988466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59952" y="4055364"/>
            <a:ext cx="0" cy="988466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4055364"/>
            <a:ext cx="877824" cy="0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4055364"/>
            <a:ext cx="0" cy="988466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0" y="4055364"/>
            <a:ext cx="0" cy="988466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37776" y="4055364"/>
            <a:ext cx="877824" cy="0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980944"/>
            <a:ext cx="0" cy="1074420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76688" y="2980944"/>
            <a:ext cx="0" cy="1074420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980944"/>
            <a:ext cx="1755648" cy="0"/>
          </a:xfrm>
          <a:prstGeom prst="line">
            <a:avLst/>
          </a:prstGeom>
          <a:noFill/>
          <a:ln w="25400">
            <a:solidFill>
              <a:srgbClr val="1B2B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merge upward into one big tree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2.3.7 — GROUPING BY CROWD DENSITY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DBSCAN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are wherever people are packed closely together. Anyone standing far away, all alone, is left out as "noise" — not part of any group.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tightly packed areas — those become clusters.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find groups of any shape, not just round blobs.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Lonely points, far from everyone, are marked as "noise."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say how many groups there will be.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  <a:effectLst>
            <a:outerShdw blurRad="76200" dist="38100" dir="5400000" algn="bl" rotWithShape="0">
              <a:srgbClr val="9AAFAF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31506" y="24688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194853" y="2640787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8019288" y="289864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8370418" y="238292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8200" y="281269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7070" y="3113532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13848" y="4402836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195" y="461772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26066" y="4832604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52760" y="4273906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89413" y="4187952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9573768" y="2272284"/>
            <a:ext cx="128016" cy="128016"/>
          </a:xfrm>
          <a:prstGeom prst="ellipse">
            <a:avLst/>
          </a:prstGeom>
          <a:solidFill>
            <a:srgbClr val="B7C4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90504" y="2916936"/>
            <a:ext cx="128016" cy="128016"/>
          </a:xfrm>
          <a:prstGeom prst="ellipse">
            <a:avLst/>
          </a:prstGeom>
          <a:solidFill>
            <a:srgbClr val="B7C4C4"/>
          </a:solidFill>
          <a:ln/>
        </p:spPr>
      </p:sp>
      <p:sp>
        <p:nvSpPr>
          <p:cNvPr id="21" name="Shape 19"/>
          <p:cNvSpPr/>
          <p:nvPr/>
        </p:nvSpPr>
        <p:spPr>
          <a:xfrm>
            <a:off x="7598664" y="4850892"/>
            <a:ext cx="128016" cy="128016"/>
          </a:xfrm>
          <a:prstGeom prst="ellipse">
            <a:avLst/>
          </a:prstGeom>
          <a:solidFill>
            <a:srgbClr val="B7C4C4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dots = lonely points left out as "noise"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2.3.8 — DBSCAN'S FLEXIBLE COUSIN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HDBSCAN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DBSCAN, but smarter about crowds of very different sizes — it can spot a small tight huddle and a big loose gathering at the same time.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DBSCAN, but doesn't need one fixed "packed-ness" rule.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groups that are very different in size and spread.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tree of possible groupings, then picks the most stable ones.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gives better results than DBSCAN on messy, real-world data.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  <a:effectLst>
            <a:outerShdw blurRad="76200" dist="38100" dir="5400000" algn="bl" rotWithShape="0">
              <a:srgbClr val="9AAFAF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31506" y="2468880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107070" y="2640787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8019288" y="281269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0" y="3973068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9862718" y="418795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26066" y="4402836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9687154" y="461772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01630" y="4101998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9994392" y="483260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9336024" y="4402836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33304" y="461772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90504" y="2487168"/>
            <a:ext cx="128016" cy="128016"/>
          </a:xfrm>
          <a:prstGeom prst="ellipse">
            <a:avLst/>
          </a:prstGeom>
          <a:solidFill>
            <a:srgbClr val="B7C4C4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tight group + one big loose group, found together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2.3.9 — RANKING INSTEAD OF DECIDING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instantly deciding the groups, it lines up all the points by how close-knit they are — like ranking a guest list from "very close friends" to "barely knows anyone."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 spirit to DBSCAN, but more flexible.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an ordering of points based on closeness.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then read off groups at different levels of "tightness."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groups in the data have very different densities.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4560341"/>
            <a:ext cx="195943" cy="35455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7850777" y="4489430"/>
            <a:ext cx="195943" cy="42547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8112034" y="4631253"/>
            <a:ext cx="195943" cy="283647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8373291" y="3614852"/>
            <a:ext cx="195943" cy="1300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8634549" y="3496666"/>
            <a:ext cx="195943" cy="141823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5806" y="3733038"/>
            <a:ext cx="195943" cy="118186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9157063" y="3543940"/>
            <a:ext cx="195943" cy="1370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9418320" y="4442155"/>
            <a:ext cx="195943" cy="472745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9679577" y="3449391"/>
            <a:ext cx="195943" cy="1465509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7" name="Shape 15"/>
          <p:cNvSpPr/>
          <p:nvPr/>
        </p:nvSpPr>
        <p:spPr>
          <a:xfrm>
            <a:off x="9940834" y="3378479"/>
            <a:ext cx="195943" cy="1536421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02091" y="3307568"/>
            <a:ext cx="195943" cy="1607332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63349" y="3496666"/>
            <a:ext cx="195943" cy="141823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24606" y="4583979"/>
            <a:ext cx="195943" cy="330921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85863" y="4536704"/>
            <a:ext cx="195943" cy="37819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bars = points farther from their neighbors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Density-Based Trio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DBSCAN, HDBSCAN, and OPTICS all group points by how tightly packed they are — here's how they differ.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641687"/>
              </p:ext>
            </p:extLst>
          </p:nvPr>
        </p:nvGraphicFramePr>
        <p:xfrm>
          <a:off x="548640" y="1965960"/>
          <a:ext cx="11064240" cy="4160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by crowd density; lonely points =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DBSCAN's smarter cousin — handles crowds of very different sizes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points by closeness instead of deciding groups right away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cluster count upfront?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noise/outliers?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well with mixed-size/density groups?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its main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Medium-sized data, clear dense clusters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messy data with uneven group sizes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with very different densities, when flexibility matters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weakness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fixed "density" rule for everything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more complex to tune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an extra step to read the plot and decide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26364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EAF7F5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progression: DBSCAN is the simplest, OPTICS adds flexibility, and HDBSCAN combines both to handle very different group sizes automatically.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2.3.10 — BUILT FOR BIG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BIRCH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quickly sorting a huge pile of mail into rough bins as it arrives, one letter at a time, instead of spreading every letter on the floor first.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very large amounts of data.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data once, building a compact summary tree as it goes.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fast and memory-friendly.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first pass before using a more detailed method.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06840" y="245425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001000" y="36804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36804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36804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2108" y="490667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9932" y="490667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9477756" y="490667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55580" y="490667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13948" y="490667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gets summarized into a small tree as it comes 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2.3.11 — CHECKING THE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Performance Evaluation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EAF7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Generic:  </a:t>
            </a:r>
            <a:r>
              <a:rPr lang="en-US" sz="16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grouping things, how do we know it was done well? We check that members within a group are close together, and different groups are far apart.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309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clusters: members inside a group are very similar to each other.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clusters: different groups are clearly different from each other.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checks need true answers to compare against (if we have them).</a:t>
            </a:r>
            <a:endParaRPr lang="en-US" sz="18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checks just look at the shape of the groups themselves.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389120" cy="4297680"/>
          </a:xfrm>
          <a:prstGeom prst="roundRect">
            <a:avLst>
              <a:gd name="adj" fmla="val 2979"/>
            </a:avLst>
          </a:prstGeom>
          <a:solidFill>
            <a:srgbClr val="F7FAFA"/>
          </a:solidFill>
          <a:ln w="12700">
            <a:solidFill>
              <a:srgbClr val="E2E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0418" y="24688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8545982" y="2640787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8458200" y="281269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8633765" y="24688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01630" y="255483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195" y="2726741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26066" y="2812694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89413" y="2382926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82128" y="3238805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8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9288" y="4273906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8677656" y="461772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9555480" y="418795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066" y="4703674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8458200" y="526237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9774936" y="526237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7882128" y="555955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6080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Tighter, well-separated groups = a better clustering result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Explained Simply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One Thing to Remember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463040" y="2834640"/>
            <a:ext cx="9235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simply about putting similar things together —</a:t>
            </a:r>
            <a:endParaRPr lang="en-US" sz="19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just has its own way of deciding what "similar" means.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732788" y="484632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2340864" y="52578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367942" y="539496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381244" y="484632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5989320" y="525780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5016398" y="539496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9029700" y="4846320"/>
            <a:ext cx="182880" cy="1828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9637776" y="5257800"/>
            <a:ext cx="182880" cy="1828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Shape 10"/>
          <p:cNvSpPr/>
          <p:nvPr/>
        </p:nvSpPr>
        <p:spPr>
          <a:xfrm>
            <a:off x="8664854" y="5394960"/>
            <a:ext cx="182880" cy="182880"/>
          </a:xfrm>
          <a:prstGeom prst="ellipse">
            <a:avLst/>
          </a:prstGeom>
          <a:solidFill>
            <a:srgbClr val="F9E7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1349</Words>
  <Application>Microsoft Office PowerPoint</Application>
  <PresentationFormat>Widescreen</PresentationFormat>
  <Paragraphs>167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Karpahaganesh AL</cp:lastModifiedBy>
  <cp:revision>4</cp:revision>
  <dcterms:created xsi:type="dcterms:W3CDTF">2026-07-26T12:31:49Z</dcterms:created>
  <dcterms:modified xsi:type="dcterms:W3CDTF">2026-07-26T13:44:59Z</dcterms:modified>
</cp:coreProperties>
</file>